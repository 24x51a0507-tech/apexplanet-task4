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D498BE-3E3A-413A-935A-190E3146DD42}" v="1" dt="2026-06-24T05:20:31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Akula" userId="268b4a868882eead" providerId="LiveId" clId="{DAC5E641-30F4-43D9-8CA9-11DD5C280F68}"/>
    <pc:docChg chg="modSld">
      <pc:chgData name="Lakshmi Akula" userId="268b4a868882eead" providerId="LiveId" clId="{DAC5E641-30F4-43D9-8CA9-11DD5C280F68}" dt="2026-06-24T05:20:45.705" v="3" actId="122"/>
      <pc:docMkLst>
        <pc:docMk/>
      </pc:docMkLst>
      <pc:sldChg chg="modSp mod">
        <pc:chgData name="Lakshmi Akula" userId="268b4a868882eead" providerId="LiveId" clId="{DAC5E641-30F4-43D9-8CA9-11DD5C280F68}" dt="2026-06-24T05:20:45.705" v="3" actId="122"/>
        <pc:sldMkLst>
          <pc:docMk/>
          <pc:sldMk cId="3861564919" sldId="265"/>
        </pc:sldMkLst>
        <pc:spChg chg="mod">
          <ac:chgData name="Lakshmi Akula" userId="268b4a868882eead" providerId="LiveId" clId="{DAC5E641-30F4-43D9-8CA9-11DD5C280F68}" dt="2026-06-24T05:20:45.705" v="3" actId="122"/>
          <ac:spMkLst>
            <pc:docMk/>
            <pc:sldMk cId="3861564919" sldId="265"/>
            <ac:spMk id="2" creationId="{FFE89FB5-E418-C870-5135-31BBEE4855B1}"/>
          </ac:spMkLst>
        </pc:spChg>
        <pc:spChg chg="mod">
          <ac:chgData name="Lakshmi Akula" userId="268b4a868882eead" providerId="LiveId" clId="{DAC5E641-30F4-43D9-8CA9-11DD5C280F68}" dt="2026-06-24T05:20:39.958" v="2" actId="14100"/>
          <ac:spMkLst>
            <pc:docMk/>
            <pc:sldMk cId="3861564919" sldId="265"/>
            <ac:spMk id="3" creationId="{E6EBB0D4-E8BB-5937-B2A7-415AF66702A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D0B6-C904-1A98-51C1-81A9D4202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897F6-2955-1F56-2166-FB9DAE74A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4DD16-7576-4BD7-6A6B-8B820DD6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9E81-C4D9-4049-A97B-F0C1C64F334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16719-C746-6F8A-0EDC-A4A0074A4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B3AEB-3E3C-0798-86F5-F0B590D2E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3466-6C3E-4B76-8E0A-2013C4CD6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726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0AAE-322D-3BD6-4355-5207FD23B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13289-EADB-89DD-FC86-EB782E393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6A532-3D72-43EF-52A7-6627B6F0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9E81-C4D9-4049-A97B-F0C1C64F334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CB1AB-6F2C-C3D7-B06E-9F997EEE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4A76B-E716-2C6F-F36A-445EE0BF6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3466-6C3E-4B76-8E0A-2013C4CD6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96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C8EF-20BA-89FC-56BC-65DFF53C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185CE-E1E6-DD81-F5D8-A9CF74B62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076C5-24F0-0362-9655-347E3AD6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9E81-C4D9-4049-A97B-F0C1C64F334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CA113-54E6-E36F-6833-C85C7D62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40BB6-5BF4-7DC2-BB1F-902D8922D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3466-6C3E-4B76-8E0A-2013C4CD6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21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D539-3861-BB9F-203D-DA7B2DD2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CA860-DF67-D2DD-FEA0-362FCCE28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1D80A-E5A0-9003-B3DD-F7BACA272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54B78-96DA-5FB4-1B16-A5F542B7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9E81-C4D9-4049-A97B-F0C1C64F334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31095-BF97-75E4-7D66-4EB411586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F2F8F-8DDE-4D22-CEE1-F4F05072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3466-6C3E-4B76-8E0A-2013C4CD6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550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BD423-CF55-841B-6CAA-0E1772D6B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24EC7-F973-AF48-F51C-5686BB69B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3E555-D87E-D7CC-EFB1-8C233AA06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0A4E55-EA56-4996-A412-2D7341E60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EEB29-38FC-E20F-5E0D-9BCA6F019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C325F3-2E12-595B-ABDC-BB9E2F276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9E81-C4D9-4049-A97B-F0C1C64F334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B5DE9-2611-222D-1DF6-36123E45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C2C36-A781-A87D-0DCD-B256FAD59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3466-6C3E-4B76-8E0A-2013C4CD6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17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AAD76-D50B-0795-766D-40864C64B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8A8AE-AA29-CE50-25D4-ED6E3696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9E81-C4D9-4049-A97B-F0C1C64F334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EA01B-CC67-C76B-AFA1-8FCB5ABB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093F8-576C-D290-0667-5B8749C91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3466-6C3E-4B76-8E0A-2013C4CD6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78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9D490-EDA6-4D30-4840-43A561E8D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9E81-C4D9-4049-A97B-F0C1C64F334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453B0C-AAAA-06A2-E011-8A5CAB92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9EA33-7ABB-A86C-77C2-E9C8C7A0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3466-6C3E-4B76-8E0A-2013C4CD6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418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8B00-8FB5-72A6-8D33-EA3672FAB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7FAE-F31E-0342-C058-DD6BEE507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B4CD4-FB76-FFDC-994D-C8496B471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B83F1-3B59-B46C-D634-06A3A5D9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9E81-C4D9-4049-A97B-F0C1C64F334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F9D1A-C325-60FB-B196-59AECE91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62889-4413-C701-641F-50789F6A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3466-6C3E-4B76-8E0A-2013C4CD6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899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D831-68B5-F07C-09C6-5BE5F52F2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FB71E-2F25-A676-17D0-1D653413E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2D2C9-A5CF-5FB8-D1DD-29752FD3E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A86D4-C134-66E8-37BC-1B1A5714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9E81-C4D9-4049-A97B-F0C1C64F334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8E870-C797-0E36-41CF-CD28CAEC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7EAF4-1841-5937-3DB8-76629203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3466-6C3E-4B76-8E0A-2013C4CD6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3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0ED0-B752-D625-E7D8-D0D55E90C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D37B8-7F55-473D-26C6-E2CC41803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62A42-B598-6F1B-D27F-5C03BC697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9E81-C4D9-4049-A97B-F0C1C64F334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20AA7-96D0-06C8-97A6-503BDAFF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A0443-8C2F-5A2F-69DD-871D6603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3466-6C3E-4B76-8E0A-2013C4CD6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791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71D3D5-2D44-BBFD-4064-AACB821E0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65428-A556-803E-1F3D-7917ED64C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C64A8-0270-482C-5445-0E6DF3F07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9E81-C4D9-4049-A97B-F0C1C64F334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A89E8-48AF-D73E-C11A-D39713D0A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D0904-DC9D-4CD9-0B1B-AEBA66765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3466-6C3E-4B76-8E0A-2013C4CD6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66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C116E0-FBFA-4E76-FA59-710DFFC7D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2FB41-BA64-1379-DC82-E58EF28FA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0BEF1-DFE3-2E9B-4E6F-A082B8302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29E81-C4D9-4049-A97B-F0C1C64F334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5C51F-B443-F7C1-7EBB-106E3E87A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45A94-2FCD-F016-344A-B00297073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33466-6C3E-4B76-8E0A-2013C4CD6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5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B6A9F-D0AA-82D6-0BD4-12C69A3E6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1697037"/>
          </a:xfrm>
        </p:spPr>
        <p:txBody>
          <a:bodyPr>
            <a:normAutofit/>
          </a:bodyPr>
          <a:lstStyle/>
          <a:p>
            <a:r>
              <a:rPr lang="en-IN" sz="4800" b="1" dirty="0"/>
              <a:t>Data Storytelling &amp;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81ED5-9832-7D7D-51B4-CEEC412B4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560638"/>
          </a:xfrm>
        </p:spPr>
        <p:txBody>
          <a:bodyPr>
            <a:normAutofit fontScale="77500" lnSpcReduction="20000"/>
          </a:bodyPr>
          <a:lstStyle/>
          <a:p>
            <a:r>
              <a:rPr lang="en-IN" sz="3400" dirty="0" err="1"/>
              <a:t>ApexPlanet</a:t>
            </a:r>
            <a:r>
              <a:rPr lang="en-IN" sz="3400" dirty="0"/>
              <a:t> Data Analytics Internship – Task 4</a:t>
            </a:r>
          </a:p>
          <a:p>
            <a:endParaRPr lang="en-IN" sz="3400" dirty="0"/>
          </a:p>
          <a:p>
            <a:r>
              <a:rPr lang="en-IN" sz="3400" dirty="0"/>
              <a:t>Sample Superstore Dataset Analysis</a:t>
            </a:r>
          </a:p>
          <a:p>
            <a:endParaRPr lang="en-IN" sz="3400" dirty="0"/>
          </a:p>
          <a:p>
            <a:r>
              <a:rPr lang="en-IN" sz="3400" dirty="0"/>
              <a:t>Presented By:</a:t>
            </a:r>
          </a:p>
          <a:p>
            <a:r>
              <a:rPr lang="en-IN" sz="3400" dirty="0"/>
              <a:t>Akula Lakshmi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18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DD70-EAE4-3CBF-DE54-1D3203E7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41084-4BA7-02F1-18B0-D4BE43EF7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73067" cy="4351338"/>
          </a:xfrm>
        </p:spPr>
        <p:txBody>
          <a:bodyPr/>
          <a:lstStyle/>
          <a:p>
            <a:r>
              <a:rPr lang="en-US" sz="2400" dirty="0"/>
              <a:t>The objective of this analysis is to explore the Sample Superstore dataset, identify sales trends, analyze business performance, and provide actionable insights to support data-driven decision-making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3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32DAA-FBF4-1A4D-41C8-00A7F329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E1D1B-4287-F53F-C159-663CCDA23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Dataset Name: Sample Superstore Dataset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The dataset contains information about orders, customers, products, sales, and profits.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It includes details such as Category, Sales, Profit, Region, and Customer Segment.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The dataset was analyzed to understand business performance and customer behavior.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29481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6F764-924B-9516-3E63-C2E4C2D7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3B61F-FD0F-6416-E899-ECD4BCEC0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Checked for missing values in the dataset.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Removed duplicate records to ensure data accuracy.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Verified and corrected data types where necessary.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Prepared and cleaned the dataset for analysis.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88628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D100B-DFE4-A1A7-DC04-FDC4D6FE4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CB36C-E6A4-7B0C-5CF9-67FC77A47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2933"/>
            <a:ext cx="8610600" cy="387403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dataset was analyzed using various visualizations to understand sales patterns and category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673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C606A-C8AC-0D96-73E8-BB819DF4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CAA5A-4371-FDDD-06AE-88B633E82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Technology category generated the highest sales among all categories.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Sales performance varies significantly across different product categories.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The analysis revealed valuable insights into customer purchasing behavior.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Data-driven analysis can help improve business performance and decision-making.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70612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5617-03F1-9D0E-95E8-8DCEB5FBC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074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7EB1F-B5C9-466E-6183-8AAD70CD3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2133"/>
            <a:ext cx="10515600" cy="5194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Business Question:</a:t>
            </a:r>
          </a:p>
          <a:p>
            <a:pPr marL="0" indent="0">
              <a:buNone/>
            </a:pPr>
            <a:r>
              <a:rPr lang="en-US" sz="1800" dirty="0"/>
              <a:t>Is there a significant difference in average sales between Technology and Furniture categories?</a:t>
            </a:r>
          </a:p>
          <a:p>
            <a:pPr marL="0" indent="0">
              <a:buNone/>
            </a:pPr>
            <a:r>
              <a:rPr lang="en-US" sz="1800" b="1" dirty="0"/>
              <a:t>Null Hypothesis (H₀):</a:t>
            </a:r>
          </a:p>
          <a:p>
            <a:pPr marL="0" indent="0">
              <a:buNone/>
            </a:pPr>
            <a:r>
              <a:rPr lang="en-US" sz="1800" dirty="0"/>
              <a:t>There is no significant difference in average sales between Technology and Furniture categories.</a:t>
            </a:r>
          </a:p>
          <a:p>
            <a:pPr marL="0" indent="0">
              <a:buNone/>
            </a:pPr>
            <a:r>
              <a:rPr lang="en-US" sz="1800" b="1" dirty="0"/>
              <a:t>Alternative Hypothesis (H₁):</a:t>
            </a:r>
          </a:p>
          <a:p>
            <a:pPr marL="0" indent="0">
              <a:buNone/>
            </a:pPr>
            <a:r>
              <a:rPr lang="en-US" sz="1800" dirty="0"/>
              <a:t>There is a significant difference in average sales between Technology and Furniture categories.</a:t>
            </a:r>
          </a:p>
          <a:p>
            <a:pPr marL="0" indent="0">
              <a:buNone/>
            </a:pPr>
            <a:r>
              <a:rPr lang="en-US" sz="1800" b="1" dirty="0"/>
              <a:t>Test Used: </a:t>
            </a:r>
            <a:r>
              <a:rPr lang="en-US" sz="1800" dirty="0"/>
              <a:t>Independent Samples T-Test</a:t>
            </a:r>
          </a:p>
          <a:p>
            <a:pPr marL="0" indent="0">
              <a:buNone/>
            </a:pPr>
            <a:r>
              <a:rPr lang="en-US" sz="1800" dirty="0"/>
              <a:t>T-statistic: 3.8431</a:t>
            </a:r>
          </a:p>
          <a:p>
            <a:pPr marL="0" indent="0">
              <a:buNone/>
            </a:pPr>
            <a:r>
              <a:rPr lang="en-US" sz="1800" dirty="0"/>
              <a:t>P-value: 0.000123</a:t>
            </a:r>
          </a:p>
          <a:p>
            <a:pPr marL="0" indent="0">
              <a:buNone/>
            </a:pPr>
            <a:r>
              <a:rPr lang="en-US" sz="1800" b="1" dirty="0"/>
              <a:t>Conclusion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Since the p-value is less than 0.05, the null hypothesis is rejected.</a:t>
            </a:r>
          </a:p>
          <a:p>
            <a:pPr marL="0" indent="0">
              <a:buNone/>
            </a:pPr>
            <a:r>
              <a:rPr lang="en-US" sz="1800" dirty="0"/>
              <a:t>There is a statistically significant difference in average sales between Technology and Furniture categories.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5460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4080-44D3-0973-A902-3C996AD4A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1222C-5941-2B87-9BA1-2C23E965E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• Focus marketing efforts on high-performing categories such as Technology.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Improve the performance of lower-performing categories through targeted promotions.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Analyze customer purchasing behavior to enhance sales strategies.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Use data-driven insights for better business decision-making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1830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CB5B-0912-4688-C40C-81590BD07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9F4F7-8B47-E33B-CD60-A71B63751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Improved understanding of sales performance across categories.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Better decision-making based on data analysis.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Increased opportunities for revenue growth.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Enhanced business strategies through data-driven insights.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56246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9FB5-E418-C870-5135-31BBEE48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BB0D4-E8BB-5937-B2A7-415AF6670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2133"/>
            <a:ext cx="10515600" cy="3924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Thank You!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861564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Data Storytelling &amp; Statistical Validation</vt:lpstr>
      <vt:lpstr>Business Objective</vt:lpstr>
      <vt:lpstr>Dataset Overview</vt:lpstr>
      <vt:lpstr>Data Cleaning</vt:lpstr>
      <vt:lpstr>Exploratory Data Analysis</vt:lpstr>
      <vt:lpstr>Key Insights</vt:lpstr>
      <vt:lpstr>Hypothesis Testing</vt:lpstr>
      <vt:lpstr>Recommendations</vt:lpstr>
      <vt:lpstr>Business Impact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Akula</dc:creator>
  <cp:lastModifiedBy>Lakshmi Akula</cp:lastModifiedBy>
  <cp:revision>1</cp:revision>
  <dcterms:created xsi:type="dcterms:W3CDTF">2026-06-24T05:20:11Z</dcterms:created>
  <dcterms:modified xsi:type="dcterms:W3CDTF">2026-06-24T05:20:49Z</dcterms:modified>
</cp:coreProperties>
</file>